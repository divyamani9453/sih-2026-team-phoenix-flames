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72BC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365D"/>
                </a:solidFill>
              </a:defRPr>
            </a:pPr>
            <a:r>
              <a:t>TITLE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289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spcAft>
                <a:spcPts val="1600"/>
              </a:spcAft>
            </a:pPr>
            <a:r>
              <a:rPr sz="2000" b="1">
                <a:solidFill>
                  <a:srgbClr val="1A365D"/>
                </a:solidFill>
              </a:rPr>
              <a:t>• Problem Statement ID:</a:t>
            </a:r>
            <a:r>
              <a:rPr sz="2000">
                <a:solidFill>
                  <a:srgbClr val="1E293B"/>
                </a:solidFill>
              </a:rPr>
              <a:t> 1812 (PS 083)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A365D"/>
                </a:solidFill>
              </a:rPr>
              <a:t>• Problem Statement Title:</a:t>
            </a:r>
            <a:r>
              <a:rPr sz="2000">
                <a:solidFill>
                  <a:srgbClr val="1E293B"/>
                </a:solidFill>
              </a:rPr>
              <a:t> Development of Heatwave Warning and Biometeorological Decision Support System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A365D"/>
                </a:solidFill>
              </a:rPr>
              <a:t>• Theme:</a:t>
            </a:r>
            <a:r>
              <a:rPr sz="2000">
                <a:solidFill>
                  <a:srgbClr val="1E293B"/>
                </a:solidFill>
              </a:rPr>
              <a:t> Disaster Management, Climate Resilience &amp; Smart Cities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A365D"/>
                </a:solidFill>
              </a:rPr>
              <a:t>• PS Category:</a:t>
            </a:r>
            <a:r>
              <a:rPr sz="2000">
                <a:solidFill>
                  <a:srgbClr val="1E293B"/>
                </a:solidFill>
              </a:rPr>
              <a:t> Software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A365D"/>
                </a:solidFill>
              </a:rPr>
              <a:t>• Team ID:</a:t>
            </a:r>
            <a:r>
              <a:rPr sz="2000">
                <a:solidFill>
                  <a:srgbClr val="1E293B"/>
                </a:solidFill>
              </a:rPr>
              <a:t> [Team ID Placeholder - e.g., SIH2026-TEAM-8301]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A365D"/>
                </a:solidFill>
              </a:rPr>
              <a:t>• Team Name (Registered on portal):</a:t>
            </a:r>
            <a:r>
              <a:rPr sz="2000">
                <a:solidFill>
                  <a:srgbClr val="1E293B"/>
                </a:solidFill>
              </a:rPr>
              <a:t> [Team Name Placeholder - e.g., HeatResilience AI]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280160" cy="731520"/>
          </a:xfrm>
          <a:prstGeom prst="ellipse">
            <a:avLst/>
          </a:prstGeom>
          <a:noFill/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IDEA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8288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1A365D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1A365D"/>
                </a:solidFill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  <a:p>
            <a:pPr algn="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2BC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56616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1A365D"/>
                </a:solidFill>
              </a:defRPr>
            </a:pPr>
            <a:r>
              <a:t>Detailed Explanation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Real-time calculations of UTCI, ISO 7243 WBGT, and NOAA Heat Index across 641 districts &amp; 291 municipal wards.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Random Forest ML Heat Vulnerability Index (HVI) engine using canopy cover, albedo, and demographic metrics.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Urban Cooling Policy Simulator predicting temperature drops for green roofs &amp; cool pavements.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Automated multi-channel emergency alert gateway (SMS/WhatsApp).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56616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1A365D"/>
                </a:solidFill>
              </a:defRPr>
            </a:pPr>
            <a:r>
              <a:t>Addressing the Problem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Moves beyond simple temperature metrics to evaluate real physiological heat stress (humidity, radiation, wind).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Resolves hyper-local microclimate gaps at municipal ward levels to combat Urban Heat Island (UHI) effects.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Automates IMD/NDMA standard color-coded early warnings (Green, Yellow, Orange, Red) with actionable advisories.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56616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600" b="1">
                <a:solidFill>
                  <a:srgbClr val="1A365D"/>
                </a:solidFill>
              </a:defRPr>
            </a:pPr>
            <a:r>
              <a:t>Innovation &amp; Uniqueness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Tri-Index Biometeorological Model executing Fiala 12-node thermoregulation, WBGT, and HI simultaneously.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Physics-informed radiative microclimate simulation for urban intervention impact assessment.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Ultra-lightweight footprint (&lt;180 MB RAM) with SQLite LRU caching (&lt;10k daily weather API credit guard).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280160" cy="731520"/>
          </a:xfrm>
          <a:prstGeom prst="ellipse">
            <a:avLst/>
          </a:prstGeom>
          <a:noFill/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8288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1A365D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1A365D"/>
                </a:solidFill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  <a:p>
            <a:pPr algn="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30352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A365D"/>
                </a:solidFill>
              </a:defRPr>
            </a:pPr>
            <a:r>
              <a:t>• Technologies to be used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072BC"/>
                </a:solidFill>
              </a:rPr>
              <a:t>  - Core Stack:</a:t>
            </a:r>
            <a:r>
              <a:rPr sz="1400">
                <a:solidFill>
                  <a:srgbClr val="1E293B"/>
                </a:solidFill>
              </a:rPr>
              <a:t> Python 3.12, Dash by Plotly, Dash Bootstrap Components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072BC"/>
                </a:solidFill>
              </a:rPr>
              <a:t>  - Biomet &amp; ML:</a:t>
            </a:r>
            <a:r>
              <a:rPr sz="1400">
                <a:solidFill>
                  <a:srgbClr val="1E293B"/>
                </a:solidFill>
              </a:rPr>
              <a:t> Scikit-learn (Random Forest), Pythermalcomfort, NumPy, Pandas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072BC"/>
                </a:solidFill>
              </a:rPr>
              <a:t>  - Geospatial &amp; Viz:</a:t>
            </a:r>
            <a:r>
              <a:rPr sz="1400">
                <a:solidFill>
                  <a:srgbClr val="1E293B"/>
                </a:solidFill>
              </a:rPr>
              <a:t> GeoPandas, Shapely, Plotly Mapbox Vector Tiles, Openpyxl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072BC"/>
                </a:solidFill>
              </a:rPr>
              <a:t>  - Data &amp; Caching:</a:t>
            </a:r>
            <a:r>
              <a:rPr sz="1400">
                <a:solidFill>
                  <a:srgbClr val="1E293B"/>
                </a:solidFill>
              </a:rPr>
              <a:t> Open-Meteo Weather API, Requests-Cache (1-hour SQLite LRU)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072BC"/>
                </a:solidFill>
              </a:rPr>
              <a:t>  - Deployment:</a:t>
            </a:r>
            <a:r>
              <a:rPr sz="1400">
                <a:solidFill>
                  <a:srgbClr val="1E293B"/>
                </a:solidFill>
              </a:rPr>
              <a:t> Gunicorn WSGI, Containerized Docker / Render PaaS (&lt;512MB RAM)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97280"/>
            <a:ext cx="566928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A365D"/>
                </a:solidFill>
              </a:defRPr>
            </a:pPr>
            <a:r>
              <a:t>• Methodology &amp; System Implementation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1. Weather Stream Ingestion: Open-Meteo API with SQLite LRU 1-hr caching buffer.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2. Tri-Index Biomet Engine: Concurrent execution of UTCI, WBGT, and Heat Index.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3. Random Forest ML HVI Engine: Fuses thermal stress with 641 district/291 ward vulnerability features.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4. Decision Matrix &amp; Simulator: Interactive GIS mapping and urban cooling mitigation sliders.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5. Automated Emergency Gateway: Generates multi-tier advisories via SMS/WhatsApp.</a:t>
            </a:r>
          </a:p>
          <a:p>
            <a:pPr>
              <a:spcBef>
                <a:spcPts val="800"/>
              </a:spcBef>
              <a:defRPr sz="1400" b="1">
                <a:solidFill>
                  <a:srgbClr val="0072BC"/>
                </a:solidFill>
              </a:defRPr>
            </a:pPr>
            <a:r>
              <a:t>Working Prototype Demonstration: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• Video Link: [Insert YouTube Prototype Video Link Here]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• Repository / Demo: [Insert GitHub Repo / QR Code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280160" cy="731520"/>
          </a:xfrm>
          <a:prstGeom prst="ellipse">
            <a:avLst/>
          </a:prstGeom>
          <a:noFill/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8288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1A365D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1A365D"/>
                </a:solidFill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  <a:p>
            <a:pPr algn="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700" b="1">
                <a:solidFill>
                  <a:srgbClr val="1A365D"/>
                </a:solidFill>
              </a:defRPr>
            </a:pPr>
            <a:r>
              <a:t>• Analysis of Feasibility</a:t>
            </a:r>
          </a:p>
          <a:p>
            <a:pPr>
              <a:spcAft>
                <a:spcPts val="200"/>
              </a:spcAft>
            </a:pPr>
            <a:r>
              <a:rPr b="1" sz="1300">
                <a:solidFill>
                  <a:srgbClr val="0072BC"/>
                </a:solidFill>
              </a:rPr>
              <a:t>  - Technical Feasibility:</a:t>
            </a:r>
            <a:r>
              <a:rPr sz="1300">
                <a:solidFill>
                  <a:srgbClr val="1E293B"/>
                </a:solidFill>
              </a:rPr>
              <a:t> Validated biometeorological algorithms running at &lt;50ms execution latency per district.</a:t>
            </a:r>
          </a:p>
          <a:p>
            <a:pPr>
              <a:spcAft>
                <a:spcPts val="200"/>
              </a:spcAft>
            </a:pPr>
            <a:r>
              <a:rPr b="1" sz="1300">
                <a:solidFill>
                  <a:srgbClr val="0072BC"/>
                </a:solidFill>
              </a:rPr>
              <a:t>  - Economic Feasibility:</a:t>
            </a:r>
            <a:r>
              <a:rPr sz="1300">
                <a:solidFill>
                  <a:srgbClr val="1E293B"/>
                </a:solidFill>
              </a:rPr>
              <a:t> Zero proprietary software or API licensing costs; operates entirely on open-source stack and free-tier cloud.</a:t>
            </a:r>
          </a:p>
          <a:p>
            <a:pPr>
              <a:spcAft>
                <a:spcPts val="200"/>
              </a:spcAft>
            </a:pPr>
            <a:r>
              <a:rPr b="1" sz="1300">
                <a:solidFill>
                  <a:srgbClr val="0072BC"/>
                </a:solidFill>
              </a:rPr>
              <a:t>  - Operational Feasibility:</a:t>
            </a:r>
            <a:r>
              <a:rPr sz="1300">
                <a:solidFill>
                  <a:srgbClr val="1E293B"/>
                </a:solidFill>
              </a:rPr>
              <a:t> Seamlessly aligns with National Disaster Management Authority (NDMA) Heat Action Plan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07208"/>
            <a:ext cx="11277295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700" b="1">
                <a:solidFill>
                  <a:srgbClr val="1A365D"/>
                </a:solidFill>
              </a:defRPr>
            </a:pPr>
            <a:r>
              <a:t>• Potential Challenges &amp; Risks</a:t>
            </a:r>
          </a:p>
          <a:p>
            <a:pPr>
              <a:spcAft>
                <a:spcPts val="200"/>
              </a:spcAft>
            </a:pPr>
            <a:r>
              <a:rPr b="1" sz="1300">
                <a:solidFill>
                  <a:srgbClr val="0072BC"/>
                </a:solidFill>
              </a:rPr>
              <a:t>  - API Rate Limits:</a:t>
            </a:r>
            <a:r>
              <a:rPr sz="1300">
                <a:solidFill>
                  <a:srgbClr val="1E293B"/>
                </a:solidFill>
              </a:rPr>
              <a:t> Risk of external weather API throttling during severe multi-region heatwaves.</a:t>
            </a:r>
          </a:p>
          <a:p>
            <a:pPr>
              <a:spcAft>
                <a:spcPts val="200"/>
              </a:spcAft>
            </a:pPr>
            <a:r>
              <a:rPr b="1" sz="1300">
                <a:solidFill>
                  <a:srgbClr val="0072BC"/>
                </a:solidFill>
              </a:rPr>
              <a:t>  - Geospatial Sparsity:</a:t>
            </a:r>
            <a:r>
              <a:rPr sz="1300">
                <a:solidFill>
                  <a:srgbClr val="1E293B"/>
                </a:solidFill>
              </a:rPr>
              <a:t> Missing ward-level microclimate or building density metrics in tier-2/3 cities.</a:t>
            </a:r>
          </a:p>
          <a:p>
            <a:pPr>
              <a:spcAft>
                <a:spcPts val="200"/>
              </a:spcAft>
            </a:pPr>
            <a:r>
              <a:rPr b="1" sz="1300">
                <a:solidFill>
                  <a:srgbClr val="0072BC"/>
                </a:solidFill>
              </a:rPr>
              <a:t>  - Server Memory Limits:</a:t>
            </a:r>
            <a:r>
              <a:rPr sz="1300">
                <a:solidFill>
                  <a:srgbClr val="1E293B"/>
                </a:solidFill>
              </a:rPr>
              <a:t> Potential out-of-memory crashes on resource-constrained cloud hosts (&lt;512 MB RAM).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17136"/>
            <a:ext cx="11277295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700" b="1">
                <a:solidFill>
                  <a:srgbClr val="1A365D"/>
                </a:solidFill>
              </a:defRPr>
            </a:pPr>
            <a:r>
              <a:t>• Mitigation Strategies</a:t>
            </a:r>
          </a:p>
          <a:p>
            <a:pPr>
              <a:spcAft>
                <a:spcPts val="200"/>
              </a:spcAft>
            </a:pPr>
            <a:r>
              <a:rPr b="1" sz="1300">
                <a:solidFill>
                  <a:srgbClr val="0072BC"/>
                </a:solidFill>
              </a:rPr>
              <a:t>  - Caching &amp; Batching:</a:t>
            </a:r>
            <a:r>
              <a:rPr sz="1300">
                <a:solidFill>
                  <a:srgbClr val="1E293B"/>
                </a:solidFill>
              </a:rPr>
              <a:t> 1-hour SQLite LRU cache &amp; batch requests ensure staying under 10k daily API limits.</a:t>
            </a:r>
          </a:p>
          <a:p>
            <a:pPr>
              <a:spcAft>
                <a:spcPts val="200"/>
              </a:spcAft>
            </a:pPr>
            <a:r>
              <a:rPr b="1" sz="1300">
                <a:solidFill>
                  <a:srgbClr val="0072BC"/>
                </a:solidFill>
              </a:rPr>
              <a:t>  - ML Imputation:</a:t>
            </a:r>
            <a:r>
              <a:rPr sz="1300">
                <a:solidFill>
                  <a:srgbClr val="1E293B"/>
                </a:solidFill>
              </a:rPr>
              <a:t> Feature imputation pipeline using neighboring ward parameters when local micro-data is absent.</a:t>
            </a:r>
          </a:p>
          <a:p>
            <a:pPr>
              <a:spcAft>
                <a:spcPts val="200"/>
              </a:spcAft>
            </a:pPr>
            <a:r>
              <a:rPr b="1" sz="1300">
                <a:solidFill>
                  <a:srgbClr val="0072BC"/>
                </a:solidFill>
              </a:rPr>
              <a:t>  - In-Memory Optimization:</a:t>
            </a:r>
            <a:r>
              <a:rPr sz="1300">
                <a:solidFill>
                  <a:srgbClr val="1E293B"/>
                </a:solidFill>
              </a:rPr>
              <a:t> Vectorized GeoJSON processing without heavy GIS servers, keeping RAM usage &lt;180 MB.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280160" cy="731520"/>
          </a:xfrm>
          <a:prstGeom prst="ellipse">
            <a:avLst/>
          </a:prstGeom>
          <a:noFill/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8288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1A365D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1A365D"/>
                </a:solidFill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  <a:p>
            <a:pPr algn="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1A365D"/>
                </a:solidFill>
              </a:defRPr>
            </a:pPr>
            <a:r>
              <a:t>• Potential Impact on the Target Audience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0072BC"/>
                </a:solidFill>
              </a:rPr>
              <a:t>  - Disaster Management (NDMA/SDMAs):</a:t>
            </a:r>
            <a:r>
              <a:rPr sz="1350">
                <a:solidFill>
                  <a:srgbClr val="1E293B"/>
                </a:solidFill>
              </a:rPr>
              <a:t> Provides real-time district &amp; ward heat risk mapping for swift cooling shelter &amp; emergency deployment.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0072BC"/>
                </a:solidFill>
              </a:rPr>
              <a:t>  - Healthcare &amp; Public Safety:</a:t>
            </a:r>
            <a:r>
              <a:rPr sz="1350">
                <a:solidFill>
                  <a:srgbClr val="1E293B"/>
                </a:solidFill>
              </a:rPr>
              <a:t> Delivers occupational WBGT heat stress alerts to protect outdoor laborers, agricultural workers &amp; traffic police.</a:t>
            </a:r>
          </a:p>
          <a:p>
            <a:pPr>
              <a:spcAft>
                <a:spcPts val="400"/>
              </a:spcAft>
            </a:pPr>
            <a:r>
              <a:rPr b="1" sz="1350">
                <a:solidFill>
                  <a:srgbClr val="0072BC"/>
                </a:solidFill>
              </a:rPr>
              <a:t>  - Urban Local Bodies (ULBs):</a:t>
            </a:r>
            <a:r>
              <a:rPr sz="1350">
                <a:solidFill>
                  <a:srgbClr val="1E293B"/>
                </a:solidFill>
              </a:rPr>
              <a:t> Empowers urban planners with quantitative simulations for targeted green cover and cool roof investments.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11277295" cy="2560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1A365D"/>
                </a:solidFill>
              </a:defRPr>
            </a:pPr>
            <a:r>
              <a:t>• Benefits of the Solution (Social, Economic, Environmental)</a:t>
            </a:r>
          </a:p>
          <a:p>
            <a:pPr>
              <a:spcAft>
                <a:spcPts val="600"/>
              </a:spcAft>
            </a:pPr>
            <a:r>
              <a:rPr b="1" sz="1350">
                <a:solidFill>
                  <a:srgbClr val="0072BC"/>
                </a:solidFill>
              </a:rPr>
              <a:t>  - Social Benefits:</a:t>
            </a:r>
            <a:r>
              <a:rPr sz="1350">
                <a:solidFill>
                  <a:srgbClr val="1E293B"/>
                </a:solidFill>
              </a:rPr>
              <a:t> Direct protection for vulnerable populations (laborers, elderly, urban slum communities) through hyper-local alerts.</a:t>
            </a:r>
          </a:p>
          <a:p>
            <a:pPr>
              <a:spcAft>
                <a:spcPts val="600"/>
              </a:spcAft>
            </a:pPr>
            <a:r>
              <a:rPr b="1" sz="1350">
                <a:solidFill>
                  <a:srgbClr val="0072BC"/>
                </a:solidFill>
              </a:rPr>
              <a:t>  - Economic Benefits:</a:t>
            </a:r>
            <a:r>
              <a:rPr sz="1350">
                <a:solidFill>
                  <a:srgbClr val="1E293B"/>
                </a:solidFill>
              </a:rPr>
              <a:t> Mitigates heat-induced labor productivity loss (est. 4.3% of working hours in India) and reduces emergency hospitalizations.</a:t>
            </a:r>
          </a:p>
          <a:p>
            <a:pPr>
              <a:spcAft>
                <a:spcPts val="600"/>
              </a:spcAft>
            </a:pPr>
            <a:r>
              <a:rPr b="1" sz="1350">
                <a:solidFill>
                  <a:srgbClr val="0072BC"/>
                </a:solidFill>
              </a:rPr>
              <a:t>  - Environmental Benefits:</a:t>
            </a:r>
            <a:r>
              <a:rPr sz="1350">
                <a:solidFill>
                  <a:srgbClr val="1E293B"/>
                </a:solidFill>
              </a:rPr>
              <a:t> Guides targeted cool roof and urban forestry interventions to effectively combat the Urban Heat Island (UHI) effect.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280160" cy="731520"/>
          </a:xfrm>
          <a:prstGeom prst="ellipse">
            <a:avLst/>
          </a:prstGeom>
          <a:noFill/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82880"/>
            <a:ext cx="228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1A365D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1A365D"/>
                </a:solidFill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BC"/>
          </a:solidFill>
          <a:ln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@SIH Idea submission- Template</a:t>
            </a:r>
          </a:p>
          <a:p>
            <a:pPr algn="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A365D"/>
                </a:solidFill>
              </a:defRPr>
            </a:pPr>
            <a:r>
              <a:t>• Details / Links of the reference and research work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072BC"/>
                </a:solidFill>
              </a:rPr>
              <a:t>1. Universal Thermal Climate Index (UTCI): </a:t>
            </a:r>
            <a:r>
              <a:rPr sz="1400">
                <a:solidFill>
                  <a:srgbClr val="1E293B"/>
                </a:solidFill>
              </a:rPr>
              <a:t> Bröde, P., et al. (2012). 'Deriving the Operational Procedure for the Universal Thermal Climate Index (UTCI).' Int J Biometeorol 56, 481–494.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072BC"/>
                </a:solidFill>
              </a:rPr>
              <a:t>2. ISO 7243 Thermal Ergonomics Standard: </a:t>
            </a:r>
            <a:r>
              <a:rPr sz="1400">
                <a:solidFill>
                  <a:srgbClr val="1E293B"/>
                </a:solidFill>
              </a:rPr>
              <a:t> ISO. (2017). 'ISO 7243: Ergonomics of the thermal environment - Assessment of heat stress using the WBGT index.'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072BC"/>
                </a:solidFill>
              </a:rPr>
              <a:t>3. NOAA Heat Index Equation: </a:t>
            </a:r>
            <a:r>
              <a:rPr sz="1400">
                <a:solidFill>
                  <a:srgbClr val="1E293B"/>
                </a:solidFill>
              </a:rPr>
              <a:t> Rothfusz, L. P. (1990). 'The Heat Index Equation.' NWS Technical Attachment SR 90-23, Scientific Services Division.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072BC"/>
                </a:solidFill>
              </a:rPr>
              <a:t>4. IMD &amp; NDMA Action Guidelines: </a:t>
            </a:r>
            <a:r>
              <a:rPr sz="1400">
                <a:solidFill>
                  <a:srgbClr val="1E293B"/>
                </a:solidFill>
              </a:rPr>
              <a:t> National Disaster Management Authority (NDMA), Govt of India. (2019). 'Preparation of Action Plan - Prevention &amp; Management of Heat-Wave.'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072BC"/>
                </a:solidFill>
              </a:rPr>
              <a:t>5. Urban Microclimate Modeling: </a:t>
            </a:r>
            <a:r>
              <a:rPr sz="1400">
                <a:solidFill>
                  <a:srgbClr val="1E293B"/>
                </a:solidFill>
              </a:rPr>
              <a:t> Oke, T. R. (1982). 'The energetic basis of the urban heat island.' Quarterly Journal of the Royal Meteorological Society, 108(455), 1-24.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